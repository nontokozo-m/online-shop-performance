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4" r:id="rId6"/>
    <p:sldId id="260" r:id="rId7"/>
    <p:sldId id="261" r:id="rId8"/>
    <p:sldId id="265" r:id="rId9"/>
    <p:sldId id="262" r:id="rId10"/>
    <p:sldId id="263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2" autoAdjust="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101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200" b="1">
                <a:solidFill>
                  <a:srgbClr val="FFFFFF"/>
                </a:solidFill>
              </a:rPr>
              <a:t>Online Shop Performance</a:t>
            </a:r>
          </a:p>
          <a:p>
            <a:r>
              <a:rPr sz="2400">
                <a:solidFill>
                  <a:srgbClr val="D2DCEB"/>
                </a:solidFill>
              </a:rPr>
              <a:t>Business Performance &amp; Customer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886200"/>
            <a:ext cx="2962542" cy="6155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dirty="0">
                <a:solidFill>
                  <a:srgbClr val="FFFFFF"/>
                </a:solidFill>
              </a:rPr>
              <a:t>January 2024 – June 2026</a:t>
            </a:r>
          </a:p>
          <a:p>
            <a:r>
              <a:rPr sz="1500" dirty="0">
                <a:solidFill>
                  <a:srgbClr val="BECDE1"/>
                </a:solidFill>
              </a:rPr>
              <a:t>Prepared </a:t>
            </a:r>
            <a:r>
              <a:rPr lang="en-ZA" sz="1500" dirty="0">
                <a:solidFill>
                  <a:srgbClr val="BECDE1"/>
                </a:solidFill>
              </a:rPr>
              <a:t>by</a:t>
            </a:r>
            <a:r>
              <a:rPr sz="1500" dirty="0">
                <a:solidFill>
                  <a:srgbClr val="BECDE1"/>
                </a:solidFill>
              </a:rPr>
              <a:t> Nontokozo Mthimunye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92337"/>
                </a:solidFill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F6978"/>
                </a:solidFill>
              </a:rPr>
              <a:t>Three findings define the shop's current performance.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3337560" cy="1417320"/>
          </a:xfrm>
          <a:prstGeom prst="roundRect">
            <a:avLst/>
          </a:prstGeom>
          <a:solidFill>
            <a:srgbClr val="F2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30632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2C5B96"/>
                </a:solidFill>
              </a:rPr>
              <a:t>≈ 1.62M</a:t>
            </a:r>
          </a:p>
          <a:p>
            <a:pPr algn="ctr"/>
            <a:r>
              <a:rPr sz="1000">
                <a:solidFill>
                  <a:srgbClr val="5F6978"/>
                </a:solidFill>
              </a:rPr>
              <a:t>Electronics revenue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600200"/>
            <a:ext cx="3337560" cy="1417320"/>
          </a:xfrm>
          <a:prstGeom prst="roundRect">
            <a:avLst/>
          </a:prstGeom>
          <a:solidFill>
            <a:srgbClr val="F2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0" y="1783080"/>
            <a:ext cx="30632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2C5B96"/>
                </a:solidFill>
              </a:rPr>
              <a:t>≈ 879.92K</a:t>
            </a:r>
          </a:p>
          <a:p>
            <a:pPr algn="ctr"/>
            <a:r>
              <a:rPr sz="1000">
                <a:solidFill>
                  <a:srgbClr val="5F6978"/>
                </a:solidFill>
              </a:rPr>
              <a:t>Tehran revenue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600200"/>
            <a:ext cx="3337560" cy="1417320"/>
          </a:xfrm>
          <a:prstGeom prst="roundRect">
            <a:avLst/>
          </a:prstGeom>
          <a:solidFill>
            <a:srgbClr val="F2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75320" y="1783080"/>
            <a:ext cx="30632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2C5B96"/>
                </a:solidFill>
              </a:rPr>
              <a:t>≈ 1.2M</a:t>
            </a:r>
          </a:p>
          <a:p>
            <a:pPr algn="ctr"/>
            <a:r>
              <a:rPr sz="1000">
                <a:solidFill>
                  <a:srgbClr val="5F6978"/>
                </a:solidFill>
              </a:rPr>
              <a:t>Revenue at 0% discount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37560"/>
            <a:ext cx="10515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232323"/>
                </a:solidFill>
              </a:defRPr>
            </a:pPr>
            <a:r>
              <a:t>• Electronics generate the vast majority of revenue, far ahead of all other categories.</a:t>
            </a:r>
          </a:p>
          <a:p>
            <a:pPr>
              <a:spcAft>
                <a:spcPts val="1100"/>
              </a:spcAft>
              <a:defRPr sz="1600">
                <a:solidFill>
                  <a:srgbClr val="232323"/>
                </a:solidFill>
              </a:defRPr>
            </a:pPr>
            <a:r>
              <a:t>• Tehran is the strongest geographic market and contributes more than twice Mashhad's revenue.</a:t>
            </a:r>
          </a:p>
          <a:p>
            <a:pPr>
              <a:spcAft>
                <a:spcPts val="1100"/>
              </a:spcAft>
              <a:defRPr sz="1600">
                <a:solidFill>
                  <a:srgbClr val="232323"/>
                </a:solidFill>
              </a:defRPr>
            </a:pPr>
            <a:r>
              <a:t>• Revenue falls as discount percentage increases, indicating that heavier discounting is eroding financial returns.</a:t>
            </a:r>
          </a:p>
          <a:p>
            <a:pPr>
              <a:spcAft>
                <a:spcPts val="1100"/>
              </a:spcAft>
              <a:defRPr sz="1600">
                <a:solidFill>
                  <a:srgbClr val="232323"/>
                </a:solidFill>
              </a:defRPr>
            </a:pPr>
            <a:r>
              <a:t>• Regular customers are the largest revenue segment, while the VIP segment represents an opportunity for growth.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473952"/>
            <a:ext cx="1088136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" y="6510528"/>
            <a:ext cx="10607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F6978"/>
                </a:solidFill>
              </a:rPr>
              <a:t>Online Shop Performance  |  Nontokozo Mthimunye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92337"/>
                </a:solidFill>
              </a:rPr>
              <a:t>Category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F6978"/>
                </a:solidFill>
              </a:rPr>
              <a:t>Electronics are the clear commercial engine of the shop.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32323"/>
                </a:solidFill>
              </a:rPr>
              <a:t>Electronics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1481328"/>
            <a:ext cx="7040880" cy="274320"/>
          </a:xfrm>
          <a:prstGeom prst="rect">
            <a:avLst/>
          </a:prstGeom>
          <a:solidFill>
            <a:srgbClr val="2C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966960" y="1417320"/>
            <a:ext cx="70403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dirty="0">
                <a:solidFill>
                  <a:srgbClr val="192337"/>
                </a:solidFill>
              </a:rPr>
              <a:t> 1.62M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30552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32323"/>
                </a:solidFill>
              </a:rPr>
              <a:t>Accessories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2194560"/>
            <a:ext cx="2249424" cy="274320"/>
          </a:xfrm>
          <a:prstGeom prst="rect">
            <a:avLst/>
          </a:prstGeom>
          <a:solidFill>
            <a:srgbClr val="2C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966960" y="2130552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92337"/>
                </a:solidFill>
              </a:rPr>
              <a:t>517.51K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843784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32323"/>
                </a:solidFill>
              </a:rPr>
              <a:t>Home Office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2907792"/>
            <a:ext cx="1810512" cy="274320"/>
          </a:xfrm>
          <a:prstGeom prst="rect">
            <a:avLst/>
          </a:prstGeom>
          <a:solidFill>
            <a:srgbClr val="2C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966960" y="2843784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92337"/>
                </a:solidFill>
              </a:rPr>
              <a:t>416.55K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557015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32323"/>
                </a:solidFill>
              </a:rPr>
              <a:t>Wearables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0" y="3621023"/>
            <a:ext cx="1755648" cy="274320"/>
          </a:xfrm>
          <a:prstGeom prst="rect">
            <a:avLst/>
          </a:prstGeom>
          <a:solidFill>
            <a:srgbClr val="2C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966960" y="3557015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92337"/>
                </a:solidFill>
              </a:rPr>
              <a:t>404.54K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270248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32323"/>
                </a:solidFill>
              </a:rPr>
              <a:t>Gaming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0" y="4334256"/>
            <a:ext cx="813816" cy="274320"/>
          </a:xfrm>
          <a:prstGeom prst="rect">
            <a:avLst/>
          </a:prstGeom>
          <a:solidFill>
            <a:srgbClr val="2C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966960" y="4270248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92337"/>
                </a:solidFill>
              </a:rPr>
              <a:t>184.49K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98348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32323"/>
                </a:solidFill>
              </a:rPr>
              <a:t>Stationery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0" y="5047488"/>
            <a:ext cx="274320" cy="274320"/>
          </a:xfrm>
          <a:prstGeom prst="rect">
            <a:avLst/>
          </a:prstGeom>
          <a:solidFill>
            <a:srgbClr val="2C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966960" y="49834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92337"/>
                </a:solidFill>
              </a:rPr>
              <a:t>61.84K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71500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200">
                <a:solidFill>
                  <a:srgbClr val="232323"/>
                </a:solidFill>
              </a:defRPr>
            </a:pPr>
            <a:r>
              <a:t>• The customer base primarily treats the shop as a technology destination rather than a general-goods store.</a:t>
            </a:r>
          </a:p>
          <a:p>
            <a:pPr>
              <a:spcAft>
                <a:spcPts val="1100"/>
              </a:spcAft>
              <a:defRPr sz="1200">
                <a:solidFill>
                  <a:srgbClr val="232323"/>
                </a:solidFill>
              </a:defRPr>
            </a:pPr>
            <a:r>
              <a:t>• Protect availability and margins in Electronics while using weaker categories selectively for inventory-clearing promotions.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6473952"/>
            <a:ext cx="1088136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8368" y="6510528"/>
            <a:ext cx="10607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F6978"/>
                </a:solidFill>
              </a:rPr>
              <a:t>Online Shop Performance  |  Nontokozo Mthimunye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3745705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 dirty="0">
                <a:solidFill>
                  <a:srgbClr val="192337"/>
                </a:solidFill>
              </a:rPr>
              <a:t>Geographic Performance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89279" y="995636"/>
            <a:ext cx="2645619" cy="930095"/>
          </a:xfrm>
          <a:prstGeom prst="roundRect">
            <a:avLst/>
          </a:prstGeom>
          <a:solidFill>
            <a:srgbClr val="F2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232143" y="1183283"/>
            <a:ext cx="2755348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dirty="0">
                <a:solidFill>
                  <a:srgbClr val="2C5B96"/>
                </a:solidFill>
              </a:rPr>
              <a:t>≈ 879.92K</a:t>
            </a:r>
          </a:p>
          <a:p>
            <a:pPr algn="ctr"/>
            <a:r>
              <a:rPr sz="1000" dirty="0">
                <a:solidFill>
                  <a:srgbClr val="5F6978"/>
                </a:solidFill>
              </a:rPr>
              <a:t>Tehran revenue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279" y="2231131"/>
            <a:ext cx="9715159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232323"/>
                </a:solidFill>
              </a:defRPr>
            </a:pPr>
            <a:r>
              <a:rPr dirty="0"/>
              <a:t>• Tehran is the central revenue engine and generates more than twice the revenue of Mashhad.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73952"/>
            <a:ext cx="1088136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" y="6510528"/>
            <a:ext cx="10607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F6978"/>
                </a:solidFill>
              </a:rPr>
              <a:t>Online Shop Performance  |  Nontokozo Mthimunye  |  4</a:t>
            </a:r>
          </a:p>
        </p:txBody>
      </p:sp>
      <p:sp>
        <p:nvSpPr>
          <p:cNvPr id="14" name="Rounded Rectangle 3">
            <a:extLst>
              <a:ext uri="{FF2B5EF4-FFF2-40B4-BE49-F238E27FC236}">
                <a16:creationId xmlns:a16="http://schemas.microsoft.com/office/drawing/2014/main" id="{CBA42BF0-E91F-0877-9B4B-557B3E39318F}"/>
              </a:ext>
            </a:extLst>
          </p:cNvPr>
          <p:cNvSpPr/>
          <p:nvPr/>
        </p:nvSpPr>
        <p:spPr>
          <a:xfrm>
            <a:off x="6695431" y="1026013"/>
            <a:ext cx="2645619" cy="930095"/>
          </a:xfrm>
          <a:prstGeom prst="roundRect">
            <a:avLst/>
          </a:prstGeom>
          <a:solidFill>
            <a:srgbClr val="F2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6564367" y="1152909"/>
            <a:ext cx="2907746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dirty="0">
                <a:solidFill>
                  <a:srgbClr val="2C5B96"/>
                </a:solidFill>
              </a:rPr>
              <a:t>≈ 404.02K</a:t>
            </a:r>
          </a:p>
          <a:p>
            <a:pPr algn="ctr"/>
            <a:r>
              <a:rPr sz="1000" dirty="0">
                <a:solidFill>
                  <a:srgbClr val="5F6978"/>
                </a:solidFill>
              </a:rPr>
              <a:t>Mashhad revenue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07DFA3F-3BDE-2558-226E-D9538DF2196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046" r="9522" b="8025"/>
          <a:stretch>
            <a:fillRect/>
          </a:stretch>
        </p:blipFill>
        <p:spPr>
          <a:xfrm>
            <a:off x="2805254" y="2689931"/>
            <a:ext cx="6566390" cy="389224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9251DBD-3303-142F-D420-7888C008DF18}"/>
              </a:ext>
            </a:extLst>
          </p:cNvPr>
          <p:cNvSpPr txBox="1"/>
          <p:nvPr/>
        </p:nvSpPr>
        <p:spPr>
          <a:xfrm>
            <a:off x="640080" y="365760"/>
            <a:ext cx="4837671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 dirty="0">
                <a:solidFill>
                  <a:srgbClr val="192337"/>
                </a:solidFill>
              </a:rPr>
              <a:t>Customer Segment Performance</a:t>
            </a:r>
          </a:p>
        </p:txBody>
      </p:sp>
      <p:sp>
        <p:nvSpPr>
          <p:cNvPr id="5" name="Rounded Rectangle 3">
            <a:extLst>
              <a:ext uri="{FF2B5EF4-FFF2-40B4-BE49-F238E27FC236}">
                <a16:creationId xmlns:a16="http://schemas.microsoft.com/office/drawing/2014/main" id="{C9FE5339-FD42-3EFF-9EE0-E306AF318D21}"/>
              </a:ext>
            </a:extLst>
          </p:cNvPr>
          <p:cNvSpPr/>
          <p:nvPr/>
        </p:nvSpPr>
        <p:spPr>
          <a:xfrm>
            <a:off x="1425122" y="1217979"/>
            <a:ext cx="2980211" cy="1018227"/>
          </a:xfrm>
          <a:prstGeom prst="roundRect">
            <a:avLst/>
          </a:prstGeom>
          <a:solidFill>
            <a:srgbClr val="F2F5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6254F0-4BAD-DA0D-AF0D-789A72CC0569}"/>
              </a:ext>
            </a:extLst>
          </p:cNvPr>
          <p:cNvSpPr txBox="1"/>
          <p:nvPr/>
        </p:nvSpPr>
        <p:spPr>
          <a:xfrm>
            <a:off x="1580090" y="1379725"/>
            <a:ext cx="2670274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dirty="0">
                <a:solidFill>
                  <a:srgbClr val="2C5B96"/>
                </a:solidFill>
              </a:rPr>
              <a:t>55.6%</a:t>
            </a:r>
          </a:p>
          <a:p>
            <a:pPr algn="ctr"/>
            <a:r>
              <a:rPr sz="1000" dirty="0">
                <a:solidFill>
                  <a:srgbClr val="5F6978"/>
                </a:solidFill>
              </a:rPr>
              <a:t>Regular-customer share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6C28ABA-6A45-F6C2-34C7-7AE4486449F1}"/>
              </a:ext>
            </a:extLst>
          </p:cNvPr>
          <p:cNvSpPr txBox="1"/>
          <p:nvPr/>
        </p:nvSpPr>
        <p:spPr>
          <a:xfrm>
            <a:off x="902799" y="2580594"/>
            <a:ext cx="4574951" cy="272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232323"/>
                </a:solidFill>
              </a:defRPr>
            </a:pPr>
            <a:r>
              <a:rPr dirty="0"/>
              <a:t>• Regular customers contribute 55.6% of total revenue, making them the financial backbone of the business.</a:t>
            </a:r>
          </a:p>
          <a:p>
            <a:pPr>
              <a:spcAft>
                <a:spcPts val="1100"/>
              </a:spcAft>
              <a:defRPr sz="1700">
                <a:solidFill>
                  <a:srgbClr val="232323"/>
                </a:solidFill>
              </a:defRPr>
            </a:pPr>
            <a:r>
              <a:rPr dirty="0"/>
              <a:t>• New customers contribute 34.7%, indicating healthy acquisition.</a:t>
            </a:r>
          </a:p>
          <a:p>
            <a:pPr>
              <a:spcAft>
                <a:spcPts val="1100"/>
              </a:spcAft>
              <a:defRPr sz="1700">
                <a:solidFill>
                  <a:srgbClr val="232323"/>
                </a:solidFill>
              </a:defRPr>
            </a:pPr>
            <a:r>
              <a:rPr dirty="0"/>
              <a:t>• VIP customers contribute only 9.71%, highlighting an opportunity to convert high-frequency Regular customers into higher-value relationships.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F3C968A-7964-A006-D33C-5979531680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61" t="6302" r="2040" b="15213"/>
          <a:stretch>
            <a:fillRect/>
          </a:stretch>
        </p:blipFill>
        <p:spPr>
          <a:xfrm>
            <a:off x="5709763" y="1217979"/>
            <a:ext cx="6290856" cy="3278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7051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92337"/>
                </a:solidFill>
              </a:rPr>
              <a:t>Discount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F6978"/>
                </a:solidFill>
              </a:rPr>
              <a:t>Higher discount levels are associated with substantially lower total revenue.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606040"/>
            <a:ext cx="960120" cy="2971798"/>
          </a:xfrm>
          <a:prstGeom prst="rect">
            <a:avLst/>
          </a:prstGeom>
          <a:solidFill>
            <a:srgbClr val="2C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2283406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192337"/>
                </a:solidFill>
              </a:rPr>
              <a:t>≈ 1.20M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71500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232323"/>
                </a:solidFill>
              </a:rPr>
              <a:t>0%</a:t>
            </a:r>
          </a:p>
        </p:txBody>
      </p:sp>
      <p:sp>
        <p:nvSpPr>
          <p:cNvPr id="8" name="Rectangle 7"/>
          <p:cNvSpPr/>
          <p:nvPr/>
        </p:nvSpPr>
        <p:spPr>
          <a:xfrm>
            <a:off x="2331720" y="3703321"/>
            <a:ext cx="884225" cy="1874518"/>
          </a:xfrm>
          <a:prstGeom prst="rect">
            <a:avLst/>
          </a:prstGeom>
          <a:solidFill>
            <a:srgbClr val="2C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103120" y="3396996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dirty="0">
                <a:solidFill>
                  <a:srgbClr val="192337"/>
                </a:solidFill>
              </a:rPr>
              <a:t>718.73K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571500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232323"/>
                </a:solidFill>
              </a:rPr>
              <a:t>5%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31920" y="3977641"/>
            <a:ext cx="884225" cy="1600198"/>
          </a:xfrm>
          <a:prstGeom prst="rect">
            <a:avLst/>
          </a:prstGeom>
          <a:solidFill>
            <a:srgbClr val="2C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42512" y="3570731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dirty="0">
                <a:solidFill>
                  <a:srgbClr val="192337"/>
                </a:solidFill>
              </a:rPr>
              <a:t>627.73K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571500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232323"/>
                </a:solidFill>
              </a:rPr>
              <a:t>10%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32120" y="4572000"/>
            <a:ext cx="914400" cy="1005840"/>
          </a:xfrm>
          <a:prstGeom prst="rect">
            <a:avLst/>
          </a:prstGeom>
          <a:solidFill>
            <a:srgbClr val="2C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03520" y="4187952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192337"/>
                </a:solidFill>
              </a:rPr>
              <a:t>354.96K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571500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232323"/>
                </a:solidFill>
              </a:rPr>
              <a:t>15%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0" y="5010912"/>
            <a:ext cx="914400" cy="566928"/>
          </a:xfrm>
          <a:prstGeom prst="rect">
            <a:avLst/>
          </a:prstGeom>
          <a:solidFill>
            <a:srgbClr val="2C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903720" y="4626864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192337"/>
                </a:solidFill>
              </a:rPr>
              <a:t>203.18K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571500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232323"/>
                </a:solidFill>
              </a:rPr>
              <a:t>20%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32520" y="5504688"/>
            <a:ext cx="914400" cy="73152"/>
          </a:xfrm>
          <a:prstGeom prst="rect">
            <a:avLst/>
          </a:prstGeom>
          <a:solidFill>
            <a:srgbClr val="2C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03920" y="512064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192337"/>
                </a:solidFill>
              </a:rPr>
              <a:t>0K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571500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232323"/>
                </a:solidFill>
              </a:rPr>
              <a:t>25%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332720" y="5257800"/>
            <a:ext cx="914400" cy="320040"/>
          </a:xfrm>
          <a:prstGeom prst="rect">
            <a:avLst/>
          </a:prstGeom>
          <a:solidFill>
            <a:srgbClr val="2C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104120" y="4873752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192337"/>
                </a:solidFill>
              </a:rPr>
              <a:t>100.61K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87000" y="571500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232323"/>
                </a:solidFill>
              </a:rPr>
              <a:t>30%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506" y="1201200"/>
            <a:ext cx="10607040" cy="1020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400">
                <a:solidFill>
                  <a:srgbClr val="232323"/>
                </a:solidFill>
              </a:defRPr>
            </a:pPr>
            <a:r>
              <a:rPr dirty="0"/>
              <a:t>• Revenue is highest at 0% discount and generally declines as discount percentage increases.</a:t>
            </a:r>
          </a:p>
          <a:p>
            <a:pPr>
              <a:spcAft>
                <a:spcPts val="1100"/>
              </a:spcAft>
              <a:defRPr sz="1400">
                <a:solidFill>
                  <a:srgbClr val="232323"/>
                </a:solidFill>
              </a:defRPr>
            </a:pPr>
            <a:r>
              <a:rPr dirty="0"/>
              <a:t>• discounts are not compensating for the reduction in selling price through higher transaction value.</a:t>
            </a:r>
          </a:p>
          <a:p>
            <a:pPr>
              <a:spcAft>
                <a:spcPts val="1100"/>
              </a:spcAft>
              <a:defRPr sz="1400">
                <a:solidFill>
                  <a:srgbClr val="232323"/>
                </a:solidFill>
              </a:defRPr>
            </a:pPr>
            <a:r>
              <a:rPr dirty="0"/>
              <a:t>• The 25% discount bucket records no revenue in the analysis.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6473952"/>
            <a:ext cx="1088136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8368" y="6510528"/>
            <a:ext cx="10607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F6978"/>
                </a:solidFill>
              </a:rPr>
              <a:t>Online Shop Performance  |  Nontokozo Mthimunye  | 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2960619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 dirty="0">
                <a:solidFill>
                  <a:srgbClr val="192337"/>
                </a:solidFill>
              </a:rPr>
              <a:t>Payment Reliability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92337"/>
                </a:solidFill>
              </a:rPr>
              <a:t>Payment 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16024" y="1357884"/>
            <a:ext cx="1325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dirty="0">
                <a:solidFill>
                  <a:srgbClr val="192337"/>
                </a:solidFill>
              </a:rPr>
              <a:t>Completed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35527" y="1357884"/>
            <a:ext cx="1325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dirty="0">
                <a:solidFill>
                  <a:srgbClr val="192337"/>
                </a:solidFill>
              </a:rPr>
              <a:t>Returned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232323"/>
                </a:solidFill>
              </a:rPr>
              <a:t>Card to Card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9224" y="1774891"/>
            <a:ext cx="1325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dirty="0">
                <a:solidFill>
                  <a:srgbClr val="232323"/>
                </a:solidFill>
              </a:rPr>
              <a:t>92.12%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35527" y="1774857"/>
            <a:ext cx="1325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dirty="0">
                <a:solidFill>
                  <a:srgbClr val="232323"/>
                </a:solidFill>
              </a:rPr>
              <a:t>2.80%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59205" y="1800464"/>
            <a:ext cx="1325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dirty="0">
                <a:solidFill>
                  <a:srgbClr val="232323"/>
                </a:solidFill>
              </a:rPr>
              <a:t>5.20%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28600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232323"/>
                </a:solidFill>
              </a:rPr>
              <a:t>Cash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16024" y="2202749"/>
            <a:ext cx="1325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dirty="0">
                <a:solidFill>
                  <a:srgbClr val="232323"/>
                </a:solidFill>
              </a:rPr>
              <a:t>92.12%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50123" y="2259523"/>
            <a:ext cx="1325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dirty="0">
                <a:solidFill>
                  <a:srgbClr val="232323"/>
                </a:solidFill>
              </a:rPr>
              <a:t>3.04%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2776" y="2311948"/>
            <a:ext cx="1325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dirty="0">
                <a:solidFill>
                  <a:srgbClr val="232323"/>
                </a:solidFill>
              </a:rPr>
              <a:t>4.84%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74320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232323"/>
                </a:solidFill>
              </a:rPr>
              <a:t>Gateway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16024" y="2687381"/>
            <a:ext cx="1325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dirty="0">
                <a:solidFill>
                  <a:srgbClr val="232323"/>
                </a:solidFill>
              </a:rPr>
              <a:t>91.90%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50123" y="2701719"/>
            <a:ext cx="1325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dirty="0">
                <a:solidFill>
                  <a:srgbClr val="232323"/>
                </a:solidFill>
              </a:rPr>
              <a:t>3.22%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32776" y="2742138"/>
            <a:ext cx="1325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dirty="0">
                <a:solidFill>
                  <a:srgbClr val="232323"/>
                </a:solidFill>
              </a:rPr>
              <a:t>4.86%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20040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232323"/>
                </a:solidFill>
              </a:rPr>
              <a:t>Wallet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07833" y="3142678"/>
            <a:ext cx="1325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dirty="0">
                <a:solidFill>
                  <a:srgbClr val="232323"/>
                </a:solidFill>
              </a:rPr>
              <a:t>91.89%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50123" y="3144581"/>
            <a:ext cx="1325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dirty="0">
                <a:solidFill>
                  <a:srgbClr val="232323"/>
                </a:solidFill>
              </a:rPr>
              <a:t>3.02%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14279" y="3172459"/>
            <a:ext cx="1325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232323"/>
                </a:solidFill>
              </a:rPr>
              <a:t>5.08%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65760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232323"/>
                </a:solidFill>
              </a:rPr>
              <a:t>Unknown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35129" y="3557682"/>
            <a:ext cx="1325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dirty="0">
                <a:solidFill>
                  <a:srgbClr val="232323"/>
                </a:solidFill>
              </a:rPr>
              <a:t>94.22%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50123" y="3552022"/>
            <a:ext cx="1325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dirty="0">
                <a:solidFill>
                  <a:srgbClr val="232323"/>
                </a:solidFill>
              </a:rPr>
              <a:t>2.67%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32776" y="3587443"/>
            <a:ext cx="1325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dirty="0">
                <a:solidFill>
                  <a:srgbClr val="232323"/>
                </a:solidFill>
              </a:rPr>
              <a:t>3.11%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62446" y="5466347"/>
            <a:ext cx="9127965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300">
                <a:solidFill>
                  <a:srgbClr val="232323"/>
                </a:solidFill>
              </a:defRPr>
            </a:pPr>
            <a:r>
              <a:rPr dirty="0"/>
              <a:t>• Completion rates remain above 91.8% across payment methods, indicating payment friction is not a current bottleneck.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6473952"/>
            <a:ext cx="1088136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58368" y="6510528"/>
            <a:ext cx="10607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F6978"/>
                </a:solidFill>
              </a:rPr>
              <a:t>Online Shop Performance  |  Nontokozo Mthimunye  |  6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798780A3-67FF-C684-D1DB-19B4658696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0351" y="1057275"/>
            <a:ext cx="6867525" cy="428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632048" y="1341780"/>
            <a:ext cx="1325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dirty="0">
                <a:solidFill>
                  <a:srgbClr val="192337"/>
                </a:solidFill>
              </a:rPr>
              <a:t>Cancelled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D98D293E-BD01-DEF6-3FFB-70FB0BE0E24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2" r="122"/>
          <a:stretch/>
        </p:blipFill>
        <p:spPr>
          <a:xfrm>
            <a:off x="981732" y="737206"/>
            <a:ext cx="10228536" cy="445376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AA9D276-5ED6-3074-0A36-B072AAD72817}"/>
              </a:ext>
            </a:extLst>
          </p:cNvPr>
          <p:cNvSpPr txBox="1"/>
          <p:nvPr/>
        </p:nvSpPr>
        <p:spPr>
          <a:xfrm>
            <a:off x="640080" y="365760"/>
            <a:ext cx="3153107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 dirty="0">
                <a:solidFill>
                  <a:srgbClr val="192337"/>
                </a:solidFill>
              </a:rPr>
              <a:t>Revenue Seasonality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DA59A1-328F-4882-2ED5-BFBB0D13DE56}"/>
              </a:ext>
            </a:extLst>
          </p:cNvPr>
          <p:cNvSpPr txBox="1"/>
          <p:nvPr/>
        </p:nvSpPr>
        <p:spPr>
          <a:xfrm>
            <a:off x="640080" y="5525951"/>
            <a:ext cx="1122326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sz="1600" dirty="0"/>
              <a:t>Despite consistent revenue between 110k and 120k through 2024 and 2025, revenue experienced a sharp drop in January 2026 </a:t>
            </a:r>
            <a:endParaRPr sz="1700" b="1" dirty="0">
              <a:solidFill>
                <a:srgbClr val="19233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45704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648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92337"/>
                </a:solidFill>
              </a:rPr>
              <a:t>Strategic Recommendations</a:t>
            </a:r>
          </a:p>
        </p:txBody>
      </p:sp>
      <p:sp>
        <p:nvSpPr>
          <p:cNvPr id="4" name="Oval 3"/>
          <p:cNvSpPr/>
          <p:nvPr/>
        </p:nvSpPr>
        <p:spPr>
          <a:xfrm>
            <a:off x="777240" y="1417320"/>
            <a:ext cx="594360" cy="594360"/>
          </a:xfrm>
          <a:prstGeom prst="ellipse">
            <a:avLst/>
          </a:prstGeom>
          <a:solidFill>
            <a:srgbClr val="2C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490472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399032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92337"/>
                </a:solidFill>
              </a:rPr>
              <a:t>Restructure the Discount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856232"/>
            <a:ext cx="100584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ZA" sz="1400" dirty="0"/>
              <a:t>Scale back broad discounting initiatives across high-demand product lines. </a:t>
            </a:r>
          </a:p>
          <a:p>
            <a:pPr lvl="0"/>
            <a:endParaRPr lang="en-ZA" sz="1400" dirty="0"/>
          </a:p>
          <a:p>
            <a:pPr lvl="0"/>
            <a:r>
              <a:rPr lang="en-ZA" sz="1400" dirty="0"/>
              <a:t>Restrict promotional price reductions exclusively to clearing slow-moving inventory, such as Gaming and Stationery, rather than discounting high-demand Electronics.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926080"/>
            <a:ext cx="594360" cy="594360"/>
          </a:xfrm>
          <a:prstGeom prst="ellipse">
            <a:avLst/>
          </a:prstGeom>
          <a:solidFill>
            <a:srgbClr val="2C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2999232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907792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92337"/>
                </a:solidFill>
              </a:rPr>
              <a:t>Localize High-Value Marketing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364992"/>
            <a:ext cx="831817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ZA" sz="1400" dirty="0"/>
              <a:t>Spend more money on ads and put our best products in Tehran, because that is where we the most sales occur</a:t>
            </a:r>
            <a:endParaRPr sz="1250" dirty="0">
              <a:solidFill>
                <a:srgbClr val="232323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777240" y="4434840"/>
            <a:ext cx="594360" cy="594360"/>
          </a:xfrm>
          <a:prstGeom prst="ellipse">
            <a:avLst/>
          </a:prstGeom>
          <a:solidFill>
            <a:srgbClr val="2C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4507992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4416552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 dirty="0">
                <a:solidFill>
                  <a:srgbClr val="192337"/>
                </a:solidFill>
              </a:rPr>
              <a:t>Build a VIP Conversion Pipeline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873752"/>
            <a:ext cx="694683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ZA" sz="1400" dirty="0"/>
              <a:t>Give special rewards to our best shoppers so they spend more money and keep coming back</a:t>
            </a:r>
            <a:r>
              <a:rPr sz="1250" dirty="0">
                <a:solidFill>
                  <a:srgbClr val="232323"/>
                </a:solidFill>
              </a:rPr>
              <a:t>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6473952"/>
            <a:ext cx="10881360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" y="6510528"/>
            <a:ext cx="10607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F6978"/>
                </a:solidFill>
              </a:rPr>
              <a:t>Online Shop Performance  |  Nontokozo Mthimunye  |  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057400"/>
            <a:ext cx="10241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Key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06222" y="3111691"/>
            <a:ext cx="736569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dirty="0">
                <a:solidFill>
                  <a:srgbClr val="DCE6F2"/>
                </a:solidFill>
              </a:rPr>
              <a:t>Protect the Electronics-led revenue base, focus growth efforts in Tehran, reduce unnecessary discounting, and convert strong Regular-customer performance into a larger VIP customer base.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7492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FFFFFF"/>
                </a:solidFill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1210</TotalTime>
  <Words>585</Words>
  <Application>Microsoft Office PowerPoint</Application>
  <PresentationFormat>Widescreen</PresentationFormat>
  <Paragraphs>112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Nontokozo Princess Mthimunye</cp:lastModifiedBy>
  <cp:revision>3</cp:revision>
  <dcterms:created xsi:type="dcterms:W3CDTF">2013-01-27T09:14:16Z</dcterms:created>
  <dcterms:modified xsi:type="dcterms:W3CDTF">2026-10-08T09:33:51Z</dcterms:modified>
  <cp:category/>
</cp:coreProperties>
</file>